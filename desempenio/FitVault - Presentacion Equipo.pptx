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Bono (USD)</c:v>
                </c:pt>
              </c:strCache>
            </c:strRef>
          </c:tx>
          <c:spPr>
            <a:ln w="31750">
              <a:solidFill>
                <a:srgbClr val="2EA86B"/>
              </a:solidFill>
            </a:ln>
          </c:spP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2</c:v>
                </c:pt>
                <c:pt idx="2">
                  <c:v>6</c:v>
                </c:pt>
                <c:pt idx="3">
                  <c:v>12</c:v>
                </c:pt>
                <c:pt idx="4">
                  <c:v>20</c:v>
                </c:pt>
                <c:pt idx="5">
                  <c:v>29</c:v>
                </c:pt>
                <c:pt idx="6">
                  <c:v>40</c:v>
                </c:pt>
                <c:pt idx="7">
                  <c:v>53</c:v>
                </c:pt>
                <c:pt idx="8">
                  <c:v>67</c:v>
                </c:pt>
                <c:pt idx="9">
                  <c:v>83</c:v>
                </c:pt>
                <c:pt idx="10">
                  <c:v>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743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FitVault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CFE0F5"/>
                </a:solidFill>
                <a:latin typeface="Calibri"/>
              </a:rPr>
              <a:t>Más valor entregado, más recompensa.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55555"/>
                </a:solidFill>
                <a:latin typeface="Calibri"/>
              </a:rPr>
              <a:t>Programa de incentivos por desempeño  ·  Equipo Junior + HelpDesk  ·  Piloto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La idea, en simple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651760" cy="2926080"/>
          </a:xfrm>
          <a:prstGeom prst="roundRect">
            <a:avLst/>
          </a:prstGeom>
          <a:solidFill>
            <a:srgbClr val="EF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864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210312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1F3864"/>
                </a:solidFill>
                <a:latin typeface="Calibri"/>
              </a:rPr>
              <a:t>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175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Bono extra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61188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Hasta USD 100 al mes, adicional a tu sueldo.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20240"/>
            <a:ext cx="2651760" cy="2926080"/>
          </a:xfrm>
          <a:prstGeom prst="roundRect">
            <a:avLst/>
          </a:prstGeom>
          <a:solidFill>
            <a:srgbClr val="EF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864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10312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1F3864"/>
                </a:solidFill>
                <a:latin typeface="Calibri"/>
              </a:rPr>
              <a:t>🛡️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0175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No toca lo tuyo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61188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Tu sueldo y bonos actuales NO se tocan.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2651760" cy="2926080"/>
          </a:xfrm>
          <a:prstGeom prst="roundRect">
            <a:avLst/>
          </a:prstGeom>
          <a:solidFill>
            <a:srgbClr val="EF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864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10312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1F3864"/>
                </a:solidFill>
                <a:latin typeface="Calibri"/>
              </a:rPr>
              <a:t>⚖️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0175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Justo y claro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1188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Reglas iguales para todos, sin favoritismo.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920240"/>
            <a:ext cx="2651760" cy="2926080"/>
          </a:xfrm>
          <a:prstGeom prst="roundRect">
            <a:avLst/>
          </a:prstGeom>
          <a:solidFill>
            <a:srgbClr val="EF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864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10312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1F3864"/>
                </a:solidFill>
                <a:latin typeface="Calibri"/>
              </a:rP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0175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Más valor, más bono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361188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El bono crece con el valor que aportas.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Qué premiamos (y qué no)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777240"/>
          </a:xfrm>
          <a:prstGeom prst="roundRect">
            <a:avLst/>
          </a:prstGeom>
          <a:solidFill>
            <a:srgbClr val="F7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9C2727"/>
                </a:solidFill>
                <a:latin typeface="Calibri"/>
              </a:rPr>
              <a:t>NO premiamos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48463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C2727"/>
                </a:solidFill>
                <a:latin typeface="Calibri"/>
              </a:rPr>
              <a:t>✗  Cerrar tickets rápido
✗  Volumen por volumen
✗  Trabajo que se reabre o falla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777240"/>
          </a:xfrm>
          <a:prstGeom prst="roundRect">
            <a:avLst/>
          </a:prstGeom>
          <a:solidFill>
            <a:srgbClr val="D9E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E6E46"/>
                </a:solidFill>
                <a:latin typeface="Calibri"/>
              </a:rPr>
              <a:t>SÍ premiamos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606040"/>
            <a:ext cx="4846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6E46"/>
                </a:solidFill>
                <a:latin typeface="Calibri"/>
              </a:rPr>
              <a:t>✓  Calidad: que no se reabra ni falle
✓  Impacto: que sirva a más usuarios
✓  Resolver de raíz: que no vuelva
✓  Colaboración: ayudar y documentar
✓  Innovación: proponer mejoras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864"/>
                </a:solidFill>
                <a:latin typeface="Calibri"/>
              </a:rPr>
              <a:t>Todo tu trabajo cuenta:  correctivo · evolutivo · nuevos desarrollos · innovación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Cómo ganas fitcoins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555555"/>
                </a:solidFill>
                <a:latin typeface="Calibri"/>
              </a:rPr>
              <a:t>Cada tarea vale según su dificultad, su urgencia y a cuántos clientes afecta.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743200" cy="1188720"/>
          </a:xfrm>
          <a:prstGeom prst="roundRect">
            <a:avLst/>
          </a:prstGeom>
          <a:solidFill>
            <a:srgbClr val="D9E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E6E46"/>
                </a:solidFill>
                <a:latin typeface="Calibri"/>
              </a:rPr>
              <a:t>Complejidad
1 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0" y="2560320"/>
            <a:ext cx="457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2E75B6"/>
                </a:solidFill>
                <a:latin typeface="Calibri"/>
              </a:rPr>
              <a:t>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286000"/>
            <a:ext cx="3291840" cy="1188720"/>
          </a:xfrm>
          <a:prstGeom prst="roundRect">
            <a:avLst/>
          </a:prstGeom>
          <a:solidFill>
            <a:srgbClr val="EF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864"/>
                </a:solidFill>
                <a:latin typeface="Calibri"/>
              </a:rPr>
              <a:t>Severidad +
Nº de clientes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560320"/>
            <a:ext cx="457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2E75B6"/>
                </a:solidFill>
                <a:latin typeface="Calibri"/>
              </a:rPr>
              <a:t>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286000"/>
            <a:ext cx="3291840" cy="1188720"/>
          </a:xfrm>
          <a:prstGeom prst="roundRect">
            <a:avLst/>
          </a:prstGeom>
          <a:solidFill>
            <a:srgbClr val="EF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Antigüedad
(si nadie la toma)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3977639"/>
            <a:ext cx="7589520" cy="86868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= Fitcoins potenciales de la tarea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983480"/>
            <a:ext cx="7589520" cy="777240"/>
          </a:xfrm>
          <a:prstGeom prst="roundRect">
            <a:avLst/>
          </a:prstGeom>
          <a:solidFill>
            <a:srgbClr val="D9E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E6E46"/>
                </a:solidFill>
                <a:latin typeface="Calibri"/>
              </a:rPr>
              <a:t>+ Premio si entregas ANTES y sin fallas:  +10% / +20%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  <a:latin typeface="Calibri"/>
              </a:rPr>
              <a:t>Cada tarea también tiene un tiempo razonable para terminarla.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Los fitcoins maduran en tu board (sin hacer nada extra)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2057400" cy="13716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9476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Potencial</a:t>
            </a:r>
          </a:p>
        </p:txBody>
      </p:sp>
      <p:sp>
        <p:nvSpPr>
          <p:cNvPr id="6" name="Chevron 5"/>
          <p:cNvSpPr/>
          <p:nvPr/>
        </p:nvSpPr>
        <p:spPr>
          <a:xfrm>
            <a:off x="2560320" y="2880360"/>
            <a:ext cx="384048" cy="411480"/>
          </a:xfrm>
          <a:prstGeom prst="chevron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44368" y="2377440"/>
            <a:ext cx="2057400" cy="13716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4368" y="379476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En desarrollo</a:t>
            </a:r>
          </a:p>
        </p:txBody>
      </p:sp>
      <p:sp>
        <p:nvSpPr>
          <p:cNvPr id="9" name="Chevron 8"/>
          <p:cNvSpPr/>
          <p:nvPr/>
        </p:nvSpPr>
        <p:spPr>
          <a:xfrm>
            <a:off x="5001768" y="2880360"/>
            <a:ext cx="384048" cy="411480"/>
          </a:xfrm>
          <a:prstGeom prst="chevron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85816" y="2377440"/>
            <a:ext cx="2057400" cy="13716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EN CERTIFICACIÓN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85816" y="379476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En pruebas</a:t>
            </a:r>
          </a:p>
        </p:txBody>
      </p:sp>
      <p:sp>
        <p:nvSpPr>
          <p:cNvPr id="12" name="Chevron 11"/>
          <p:cNvSpPr/>
          <p:nvPr/>
        </p:nvSpPr>
        <p:spPr>
          <a:xfrm>
            <a:off x="7443216" y="2880360"/>
            <a:ext cx="384048" cy="411480"/>
          </a:xfrm>
          <a:prstGeom prst="chevron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27263" y="2377440"/>
            <a:ext cx="2057400" cy="13716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ENTREGADO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3" y="379476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Esperando prod.</a:t>
            </a:r>
          </a:p>
        </p:txBody>
      </p:sp>
      <p:sp>
        <p:nvSpPr>
          <p:cNvPr id="15" name="Chevron 14"/>
          <p:cNvSpPr/>
          <p:nvPr/>
        </p:nvSpPr>
        <p:spPr>
          <a:xfrm>
            <a:off x="9884663" y="2880360"/>
            <a:ext cx="384048" cy="411480"/>
          </a:xfrm>
          <a:prstGeom prst="chevron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268711" y="2377440"/>
            <a:ext cx="2057400" cy="1371600"/>
          </a:xfrm>
          <a:prstGeom prst="roundRect">
            <a:avLst/>
          </a:prstGeom>
          <a:solidFill>
            <a:srgbClr val="2E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+15 días 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68711" y="379476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E6E46"/>
                </a:solidFill>
                <a:latin typeface="Calibri"/>
              </a:rPr>
              <a:t>ACREDITADO 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  <a:latin typeface="Calibri"/>
              </a:rPr>
              <a:t>Mueves tu tarjeta en el board y tus fitcoins avanzan solos. Solo los ACREDITADOS se vuelven dinero.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Tu nota del mes: 5 cosas y su peso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Tus fitcoins pesan sobre todo en Productividad e Impacto. Calidad, Colaboración e Innovación ajustan el resto.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94560"/>
          <a:ext cx="73152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005840"/>
                <a:gridCol w="1554480"/>
                <a:gridCol w="1371600"/>
              </a:tblGrid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Dimensión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Peso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Tu mes (0–100)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Aporte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Calidad (sin reaperturas)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27,0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Productividad (fitcoins ÷ meta)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14,0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Impacto (alcance)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15,0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Colaboración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16,0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Innovación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6,0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</a:rPr>
                        <a:t>NOTA DEL MES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95360" y="2651760"/>
            <a:ext cx="2834640" cy="1554480"/>
          </a:xfrm>
          <a:prstGeom prst="roundRect">
            <a:avLst/>
          </a:prstGeom>
          <a:solidFill>
            <a:srgbClr val="2E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Nota 78
↓  curva  ↓
Bono $64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Nota = 30%·Calidad + 20%·Productividad + 20%·Impacto + 20%·Colaboración + 10%·Innovación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HelpDesk: esto es lo que se te califica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Se te mide por la ATENCIÓN que tú controlas, no por la solución técnica (eso es mérito del desarrollador).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94560"/>
          <a:ext cx="73152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005840"/>
                <a:gridCol w="1554480"/>
                <a:gridCol w="1371600"/>
              </a:tblGrid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Dimensión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Peso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Tu mes (0–100)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Aporte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Calidad del registro / triage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25,5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Resolución en 1er contacto (FCR)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17,5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Tiempo de 1ª respuesta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12,0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Seguimiento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11,3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CSAT de atención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13,5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</a:rPr>
                        <a:t>NOTA DEL MES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</a:rPr>
                        <a:t>≈ 80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95360" y="2651760"/>
            <a:ext cx="2834640" cy="1554480"/>
          </a:xfrm>
          <a:prstGeom prst="roundRect">
            <a:avLst/>
          </a:prstGeom>
          <a:solidFill>
            <a:srgbClr val="2E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Nota 80
↓  curva  ↓
Bono $67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Nota = 30%·Registro + 25%·FCR + 15%·Respuesta + 15%·Seguimiento + 15%·CSAT atención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Más valor entregado, más recompensa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554480"/>
          <a:ext cx="67665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80960" y="1737360"/>
            <a:ext cx="3840480" cy="4206240"/>
          </a:xfrm>
          <a:prstGeom prst="roundRect">
            <a:avLst/>
          </a:prstGeom>
          <a:solidFill>
            <a:srgbClr val="EF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864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8288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6E46"/>
                </a:solidFill>
                <a:latin typeface="Calibri"/>
              </a:rPr>
              <a:t>El bono premia el valor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331720"/>
            <a:ext cx="3474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El bono crece con el valor que entregas: aportar más no suma un poco, suma mucho más. La curva se dispara en el alto desempeño.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160520"/>
            <a:ext cx="3474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Calibri"/>
              </a:rPr>
              <a:t>Nota 60 → $40
Nota 80 → $67
Nota 100 → $100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5257800"/>
            <a:ext cx="3474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(Un mes bajo reconoce solo algo simbólico; el premio de verdad es para el impacto.)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Si algo sale mal: penalidad justa (no pierdes todo)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●  Si tu trabajo reabre o falla, NO pierdes todos los fitcoins.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●  Se aplica una penalidad pequeña (un % según la gravedad).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●  Lo corriges, el cliente lo acepta y el resto SÍ cuenta.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●  Moraleja: prueba bien antes de entregar.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846320"/>
            <a:ext cx="10515600" cy="1005840"/>
          </a:xfrm>
          <a:prstGeom prst="roundRect">
            <a:avLst/>
          </a:prstGeom>
          <a:solidFill>
            <a:srgbClr val="FD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8A5A00"/>
                </a:solidFill>
                <a:latin typeface="Calibri"/>
              </a:rPr>
              <a:t>El periodo de gracia (15 días) existe para no pagar algo que aún no demostró ser estable.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Cada mes empieza de cero (pero no pierdes lo pendiente)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●  Al cerrar el mes, tus fitcoins ACREDITADOS forman tu bono y se pagan.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●  La nota vuelve a cero para empezar el mes nuevo.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●  Lo que dejaste 'en camino' (aún no instalado) NO se pierde:</a:t>
            </a:r>
          </a:p>
          <a:p>
            <a:pPr lvl="1">
              <a:spcAft>
                <a:spcPts val="1200"/>
              </a:spcAft>
            </a:pPr>
            <a:r>
              <a:rPr sz="1800">
                <a:solidFill>
                  <a:srgbClr val="555555"/>
                </a:solidFill>
                <a:latin typeface="Calibri"/>
              </a:rPr>
              <a:t>–  cuenta en el mes en que se instale y se acredite.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937760"/>
            <a:ext cx="10515600" cy="914400"/>
          </a:xfrm>
          <a:prstGeom prst="roundRect">
            <a:avLst/>
          </a:prstGeom>
          <a:solidFill>
            <a:srgbClr val="EF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Ejemplo: tarea de enero instalada el 5-feb → se acredita en FEBRERO.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FitVault: tu app para verlo todo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291840" cy="4754880"/>
          </a:xfrm>
          <a:prstGeom prst="roundRect">
            <a:avLst/>
          </a:prstGeom>
          <a:solidFill>
            <a:srgbClr val="0F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783080"/>
            <a:ext cx="3017520" cy="502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FitVault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423160"/>
            <a:ext cx="3017520" cy="1143000"/>
          </a:xfrm>
          <a:prstGeom prst="roundRect">
            <a:avLst/>
          </a:prstGeom>
          <a:solidFill>
            <a:srgbClr val="1E6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BONO ESTIMADO
$ 64   ·   nota 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703320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● Acreditados        145
◐ En camino           90
✗ Penalizados        −12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1206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FE0F5"/>
                </a:solidFill>
                <a:latin typeface="Calibri"/>
              </a:rPr>
              <a:t>🔥 Racha 12 días   ·   Nivel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5778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FE0F5"/>
                </a:solidFill>
                <a:latin typeface="Calibri"/>
              </a:rPr>
              <a:t>🛡️ 💡 Logros del 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●  Tus fitcoins por estado y tu bono estimado en vivo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●  Tu nivel, tu racha y tus logros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●  Notificaciones: '¡se te acreditaron 40 fitcoins!'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●  Tu bono es privado; solo Gerencia ve el total a pagar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Es justo y transparente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●  Una IA sugiere la dificultad de cada tarea; un humano la confirma.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●  Las reglas y los pesos son públicos: todos los conocen.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●  Cada fitcoin tiene su historia (auditable): nada es 'a dedo'.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●  Si no estás de acuerdo con una nota, puedes pedir revisión.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¿Y los Seniors? (en construcción)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515600" cy="914400"/>
          </a:xfrm>
          <a:prstGeom prst="roundRect">
            <a:avLst/>
          </a:prstGeom>
          <a:solidFill>
            <a:srgbClr val="FD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8A5A00"/>
                </a:solidFill>
                <a:latin typeface="Calibri"/>
              </a:rPr>
              <a:t>El esquema para Seniors se está trabajando — adelanto: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●  Además de calidad y mentoría, se enfocan en GENERAR INGRESOS.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●  Detectar una oportunidad → proponerla como mejora vendible → venderla al cliente.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●  Se reconoce un % de la facturación que generan…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–  …sin el tope de USD 100.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●  Más detalles próximamente.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Empezamos con un piloto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CFE0F5"/>
                </a:solidFill>
                <a:latin typeface="Calibri"/>
              </a:rPr>
              <a:t>Juniors + HelpDesk  ·  medimos, ajustamos y lo hacemos juntos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F3864"/>
                </a:solidFill>
                <a:latin typeface="Calibri"/>
              </a:rPr>
              <a:t>¿Preguntas?  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